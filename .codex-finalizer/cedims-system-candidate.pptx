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16cf7c67004e26" /><Relationship Type="http://schemas.openxmlformats.org/officeDocument/2006/relationships/extended-properties" Target="/docProps/app.xml" Id="R61896d3668dc4362" /><Relationship Type="http://schemas.openxmlformats.org/officeDocument/2006/relationships/officeDocument" Target="/ppt/presentation.xml" Id="Rc0313a1d6a2e4f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806613fd2e49aa"/>
  </p:sldMasterIdLst>
  <p:notesMasterIdLst>
    <p:notesMasterId xmlns:r="http://schemas.openxmlformats.org/officeDocument/2006/relationships" r:id="R2e1b064b69094e96"/>
  </p:notesMasterIdLst>
  <p:sldIdLst>
    <p:sldId xmlns:r="http://schemas.openxmlformats.org/officeDocument/2006/relationships" id="256" r:id="R1c99a9c3961e44e4"/>
    <p:sldId xmlns:r="http://schemas.openxmlformats.org/officeDocument/2006/relationships" id="257" r:id="R6bfd883a9b7f4417"/>
    <p:sldId xmlns:r="http://schemas.openxmlformats.org/officeDocument/2006/relationships" id="258" r:id="Rd17781241ab94879"/>
    <p:sldId xmlns:r="http://schemas.openxmlformats.org/officeDocument/2006/relationships" id="259" r:id="R47f6c444fabd47c6"/>
    <p:sldId xmlns:r="http://schemas.openxmlformats.org/officeDocument/2006/relationships" id="260" r:id="R57c67e1bd92740cd"/>
    <p:sldId xmlns:r="http://schemas.openxmlformats.org/officeDocument/2006/relationships" id="261" r:id="Rd4bc68efd36f4854"/>
    <p:sldId xmlns:r="http://schemas.openxmlformats.org/officeDocument/2006/relationships" id="262" r:id="Rad561112d4204e30"/>
    <p:sldId xmlns:r="http://schemas.openxmlformats.org/officeDocument/2006/relationships" id="263" r:id="R9515d41f3d7d46b7"/>
    <p:sldId xmlns:r="http://schemas.openxmlformats.org/officeDocument/2006/relationships" id="264" r:id="R2fac78f23e7e4f3a"/>
    <p:sldId xmlns:r="http://schemas.openxmlformats.org/officeDocument/2006/relationships" id="265" r:id="R1fe52d04d02f40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9871391e9b491d" /><Relationship Type="http://schemas.openxmlformats.org/officeDocument/2006/relationships/slideMaster" Target="/ppt/slideMasters/slideMaster1.xml" Id="Rc2806613fd2e49aa" /><Relationship Type="http://schemas.openxmlformats.org/officeDocument/2006/relationships/notesMaster" Target="/ppt/notesMasters/notesMaster1.xml" Id="R2e1b064b69094e96" /><Relationship Type="http://schemas.openxmlformats.org/officeDocument/2006/relationships/presProps" Target="/ppt/presProps.xml" Id="Rd2223cbee8d240b6" /><Relationship Type="http://schemas.openxmlformats.org/officeDocument/2006/relationships/tableStyles" Target="/ppt/tableStyles.xml" Id="Rcc007eecc0b144f5" /><Relationship Type="http://schemas.openxmlformats.org/officeDocument/2006/relationships/slide" Target="/ppt/slides/slide1.xml" Id="R1c99a9c3961e44e4" /><Relationship Type="http://schemas.openxmlformats.org/officeDocument/2006/relationships/slide" Target="/ppt/slides/slide2.xml" Id="R6bfd883a9b7f4417" /><Relationship Type="http://schemas.openxmlformats.org/officeDocument/2006/relationships/slide" Target="/ppt/slides/slide3.xml" Id="Rd17781241ab94879" /><Relationship Type="http://schemas.openxmlformats.org/officeDocument/2006/relationships/slide" Target="/ppt/slides/slide4.xml" Id="R47f6c444fabd47c6" /><Relationship Type="http://schemas.openxmlformats.org/officeDocument/2006/relationships/slide" Target="/ppt/slides/slide5.xml" Id="R57c67e1bd92740cd" /><Relationship Type="http://schemas.openxmlformats.org/officeDocument/2006/relationships/slide" Target="/ppt/slides/slide6.xml" Id="Rd4bc68efd36f4854" /><Relationship Type="http://schemas.openxmlformats.org/officeDocument/2006/relationships/slide" Target="/ppt/slides/slide7.xml" Id="Rad561112d4204e30" /><Relationship Type="http://schemas.openxmlformats.org/officeDocument/2006/relationships/slide" Target="/ppt/slides/slide8.xml" Id="R9515d41f3d7d46b7" /><Relationship Type="http://schemas.openxmlformats.org/officeDocument/2006/relationships/slide" Target="/ppt/slides/slide9.xml" Id="R2fac78f23e7e4f3a" /><Relationship Type="http://schemas.openxmlformats.org/officeDocument/2006/relationships/slide" Target="/ppt/slides/slide10.xml" Id="R1fe52d04d02f40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71bbfbb46841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7ba0eae2874795" /><Relationship Type="http://schemas.openxmlformats.org/officeDocument/2006/relationships/notesMaster" Target="/ppt/notesMasters/notesMaster1.xml" Id="R5eb08935d03a42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dc9e91e2bb4710" /><Relationship Type="http://schemas.openxmlformats.org/officeDocument/2006/relationships/notesMaster" Target="/ppt/notesMasters/notesMaster1.xml" Id="R62915d0ecf1143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58528db3d84990" /><Relationship Type="http://schemas.openxmlformats.org/officeDocument/2006/relationships/notesMaster" Target="/ppt/notesMasters/notesMaster1.xml" Id="R12c409b4ebe84f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6063f7b2f0412c" /><Relationship Type="http://schemas.openxmlformats.org/officeDocument/2006/relationships/notesMaster" Target="/ppt/notesMasters/notesMaster1.xml" Id="Rf1a9f247488141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35cf32b3fa47d3" /><Relationship Type="http://schemas.openxmlformats.org/officeDocument/2006/relationships/notesMaster" Target="/ppt/notesMasters/notesMaster1.xml" Id="Ref61bd6c1bbe46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97010727484fbf" /><Relationship Type="http://schemas.openxmlformats.org/officeDocument/2006/relationships/notesMaster" Target="/ppt/notesMasters/notesMaster1.xml" Id="Re91af5819bb24e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24e8f9f47e4aea" /><Relationship Type="http://schemas.openxmlformats.org/officeDocument/2006/relationships/notesMaster" Target="/ppt/notesMasters/notesMaster1.xml" Id="R85ec48fbd3da45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22c38bb4b04c0f" /><Relationship Type="http://schemas.openxmlformats.org/officeDocument/2006/relationships/notesMaster" Target="/ppt/notesMasters/notesMaster1.xml" Id="Rd7a1b32ed15947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d10268475141e5" /><Relationship Type="http://schemas.openxmlformats.org/officeDocument/2006/relationships/notesMaster" Target="/ppt/notesMasters/notesMaster1.xml" Id="R68beedcad25341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35145399344be6" /><Relationship Type="http://schemas.openxmlformats.org/officeDocument/2006/relationships/notesMaster" Target="/ppt/notesMasters/notesMaster1.xml" Id="Rb4c93252b5a943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CEDIMS as the school and district system for submitting, checking, archiving, and monitoring instructional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system in one plain sentence first, then connect each role to the part they use most.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the system flow from document preparation to compliance follow-up.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features appear across roles, although each role sees different data based on permissions.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teacher workflow focuses on accurate submission and personal tracking.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walk a teacher through the upload screen in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Master Teachers have both personal upload responsibilities and school support responsibilities.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the difference between Compliance and Archive. Compliance is for follow-up decisions. Archive is for document checking.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table summarizes the practical difference between the three requested roles.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closing script. It connects each role to a clear action and closes with the purpose of the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0cd6e3c86549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9824d5361d481e" /><Relationship Type="http://schemas.openxmlformats.org/officeDocument/2006/relationships/slideLayout" Target="/ppt/slideLayouts/slideLayout1.xml" Id="Rcc714ac4d6d449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714ac4d6d449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3c2e8473e4210" /><Relationship Type="http://schemas.openxmlformats.org/officeDocument/2006/relationships/image" Target="/ppt/media/image.jpeg" Id="R0568996a83a24f1b" /><Relationship Type="http://schemas.openxmlformats.org/officeDocument/2006/relationships/image" Target="/ppt/media/image.png" Id="Re1b44003d1b44445" /><Relationship Type="http://schemas.openxmlformats.org/officeDocument/2006/relationships/image" Target="/ppt/media/image2.png" Id="Rd335c849223a48e8" /><Relationship Type="http://schemas.openxmlformats.org/officeDocument/2006/relationships/notesSlide" Target="/ppt/notesSlides/notesSlide1.xml" Id="R3d6d6220b4dd44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c7888b09c420e" /><Relationship Type="http://schemas.openxmlformats.org/officeDocument/2006/relationships/image" Target="/ppt/media/image3.png" Id="R0e85822cb91a42c2" /><Relationship Type="http://schemas.openxmlformats.org/officeDocument/2006/relationships/notesSlide" Target="/ppt/notesSlides/notesSlide2.xml" Id="R553c23198ef642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1808738ff482f" /><Relationship Type="http://schemas.openxmlformats.org/officeDocument/2006/relationships/image" Target="/ppt/media/image4.png" Id="R50ed5dcf4811499e" /><Relationship Type="http://schemas.openxmlformats.org/officeDocument/2006/relationships/notesSlide" Target="/ppt/notesSlides/notesSlide3.xml" Id="R4d1de373e2db4a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b48ec0bde45d7" /><Relationship Type="http://schemas.openxmlformats.org/officeDocument/2006/relationships/image" Target="/ppt/media/image5.png" Id="Rf33a77f38904491e" /><Relationship Type="http://schemas.openxmlformats.org/officeDocument/2006/relationships/image" Target="/ppt/media/image6.png" Id="Rd47d29df6b89464f" /><Relationship Type="http://schemas.openxmlformats.org/officeDocument/2006/relationships/notesSlide" Target="/ppt/notesSlides/notesSlide4.xml" Id="R863b11c6a3ec44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c5d1d7bf64af4" /><Relationship Type="http://schemas.openxmlformats.org/officeDocument/2006/relationships/image" Target="/ppt/media/image7.png" Id="R141dd6f7feac4218" /><Relationship Type="http://schemas.openxmlformats.org/officeDocument/2006/relationships/notesSlide" Target="/ppt/notesSlides/notesSlide5.xml" Id="R90d26f57e47043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451629a014928" /><Relationship Type="http://schemas.openxmlformats.org/officeDocument/2006/relationships/image" Target="/ppt/media/image8.png" Id="Rbc0fce89d49f4103" /><Relationship Type="http://schemas.openxmlformats.org/officeDocument/2006/relationships/notesSlide" Target="/ppt/notesSlides/notesSlide6.xml" Id="R5e737926ca3f44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69b3175164e79" /><Relationship Type="http://schemas.openxmlformats.org/officeDocument/2006/relationships/image" Target="/ppt/media/image9.png" Id="Refe5264a13214a77" /><Relationship Type="http://schemas.openxmlformats.org/officeDocument/2006/relationships/notesSlide" Target="/ppt/notesSlides/notesSlide7.xml" Id="R78ba0f8034024f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59fff65004872" /><Relationship Type="http://schemas.openxmlformats.org/officeDocument/2006/relationships/image" Target="/ppt/media/image10.png" Id="Rb312d710f56848af" /><Relationship Type="http://schemas.openxmlformats.org/officeDocument/2006/relationships/notesSlide" Target="/ppt/notesSlides/notesSlide8.xml" Id="R2878885f3ad645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043d67a124a72" /><Relationship Type="http://schemas.openxmlformats.org/officeDocument/2006/relationships/image" Target="/ppt/media/image11.png" Id="R099f2b3081904ceb" /><Relationship Type="http://schemas.openxmlformats.org/officeDocument/2006/relationships/notesSlide" Target="/ppt/notesSlides/notesSlide9.xml" Id="Rec622f9e33fe49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e0eb36c4447d2" /><Relationship Type="http://schemas.openxmlformats.org/officeDocument/2006/relationships/image" Target="/ppt/media/image12.png" Id="R25268e7d44ec4a5a" /><Relationship Type="http://schemas.openxmlformats.org/officeDocument/2006/relationships/notesSlide" Target="/ppt/notesSlides/notesSlide10.xml" Id="R984ae51246d846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40A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8996a83a24f1b"/>
          <a:srcRect xmlns:a="http://schemas.openxmlformats.org/drawingml/2006/main" l="7778" t="0" r="77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0"/>
            <a:ext cx="57912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E35BC-1B98-40B9-AE6C-5A4CE399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60000"/>
            </a:srgbClr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44003d1b44445"/>
          <a:stretch xmlns:a="http://schemas.openxmlformats.org/drawingml/2006/main"/>
        </p:blipFill>
        <p:spPr>
          <a:xfrm xmlns:a="http://schemas.openxmlformats.org/drawingml/2006/main">
            <a:off x="685800" y="691896"/>
            <a:ext cx="857250" cy="692658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5c849223a48e8"/>
          <a:stretch xmlns:a="http://schemas.openxmlformats.org/drawingml/2006/main"/>
        </p:blipFill>
        <p:spPr>
          <a:xfrm xmlns:a="http://schemas.openxmlformats.org/drawingml/2006/main">
            <a:off x="1676400" y="68580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132E5-5DDE-4A25-82FB-D2B678B4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782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CEDIMS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9B93F-4136-4287-A6F7-18F54FDC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EAF1FF"/>
                </a:solidFill>
                <a:latin typeface="Aptos"/>
                <a:ea typeface="Aptos"/>
                <a:cs typeface="Aptos"/>
              </a:rPr>
              <a:t>Calapan East District</a:t>
            </a:r>
          </a:p>
          <a:p xmlns:a="http://schemas.openxmlformats.org/drawingml/2006/main">
            <a:pPr algn="l">
              <a:defRPr sz="1875" b="0">
                <a:solidFill>
                  <a:srgbClr val="EAF1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EAF1FF"/>
                </a:solidFill>
                <a:latin typeface="Aptos"/>
                <a:ea typeface="Aptos"/>
                <a:cs typeface="Aptos"/>
              </a:rPr>
              <a:t>Instructional Monitoring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EB2E92-2EBA-4CC8-9FC2-F66C1407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B70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B705"/>
                </a:solidFill>
                <a:latin typeface="Aptos"/>
                <a:ea typeface="Aptos"/>
                <a:cs typeface="Aptos"/>
              </a:rPr>
              <a:t>System overview and role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3EC62-AA95-4DC4-B001-658DDB17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8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8FF"/>
                </a:solidFill>
                <a:latin typeface="Aptos"/>
                <a:ea typeface="Aptos"/>
                <a:cs typeface="Aptos"/>
              </a:rPr>
              <a:t>For Teachers, Master Teachers, and School Heads</a:t>
            </a:r>
          </a:p>
        </p:txBody>
      </p:sp>
    </p:spTree>
    <p:extLst>
      <p:ext uri="{BB962C8B-B14F-4D97-AF65-F5344CB8AC3E}">
        <p14:creationId xmlns:p14="http://schemas.microsoft.com/office/powerpoint/2010/main" val="8601188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7C0EF2-BE09-4CF4-97D5-1DA247E1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0081A-BF61-41C9-A4EC-5EB972FB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What the system does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5822cb91a42c2"/>
          <a:stretch xmlns:a="http://schemas.openxmlformats.org/drawingml/2006/main"/>
        </p:blipFill>
        <p:spPr>
          <a:xfrm xmlns:a="http://schemas.openxmlformats.org/drawingml/2006/main">
            <a:off x="10839450" y="3238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F42A4-2EB5-43B3-A16F-4EA22F14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CEDIMS keeps instructional document work in one place: upload, verify, review, archive, and monitor compliance by school year, term, and week.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4BE63-5711-44ED-93AC-993BE306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99060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96D38-0A6A-4004-B0A8-94C9D2F9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15C7F-4C61-4A3E-9E09-10A42D9C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8130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Teachers submit DLLs and track their own weekly requirements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3C530-C416-428B-88E9-E09289F2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99060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87C7F-2A3A-4F80-B740-491822B2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D8352-68E4-40B9-8A97-3202613E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242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Master Teachers help review files and support teacher compliance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A712C-C411-46F7-B334-2F1A1534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99060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097AF-AFB9-4AB9-BAE8-A0EA1627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B120E-F11A-4324-9361-7B9AB81F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6720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School Heads monitor the whole school and follow up missing 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05CE79-76B0-4C7B-A436-A2CD4A7A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99060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BBB63-A70B-4AC8-8E4C-16D7CEB6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67FBC9-74B4-45CA-94E3-51B90C03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101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Archives preserve every submitted file with search, remarks, and QR verification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7BEF09-07FB-46A5-8D39-03DAAF15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001872-6791-442E-BECC-3046EE5B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942375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CCB7CB-8153-48D4-A98C-5F855EBF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55ADE-B177-4433-BAEB-89D8E658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Main workflow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d5dcf4811499e"/>
          <a:stretch xmlns:a="http://schemas.openxmlformats.org/drawingml/2006/main"/>
        </p:blipFill>
        <p:spPr>
          <a:xfrm xmlns:a="http://schemas.openxmlformats.org/drawingml/2006/main">
            <a:off x="10839450" y="3238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90557-8F09-4563-BEAF-9D91AF6A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885950" cy="2000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DF41B-F2A5-4177-B94C-5599C8CD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C940D-F96E-4147-92E9-6E18D526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8F636-C2E4-4297-9305-719E2C3D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Prepare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6F6DB-BAA5-4F9F-81F9-D90FEF84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Teacher prepares the required DLL or supervisory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7F706-7F6B-4F40-A153-148D93D8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00250"/>
            <a:ext cx="1885950" cy="2000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C6484-DEE5-4E06-A63C-1C1D666B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09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68FC6F-CD85-4837-A023-1F1C933E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669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82FC6-0604-4AC6-A38C-70EA67A9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384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ED7EB2-BF02-4967-B68A-33993FDC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CEDIMS reads the file, detects details, and confirms the period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A3BB3C-BCB4-4A72-ABD3-36084848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885950" cy="2000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FF715F-2E55-4DD1-BC7E-032AE60A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F5E673-E938-4249-871B-31DBD6B0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669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0E41E0-53B7-41C5-AD99-48C3FE8C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384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Archive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1ABBCE-2CE1-4818-9529-20F00CDA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5755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The submitted PDF receives a QR stamp and stays searchable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272C63-9108-4AE8-87BB-DD651CC2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00250"/>
            <a:ext cx="1885950" cy="2000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6DCA1A-705D-4088-AC6A-20FA3325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09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1447B3-5675-4704-9448-83B56A2C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669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D5F10A-4AF6-4E07-AC6E-B3FCC12F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384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755DEA-0FCA-4625-81F7-E5E3FBD4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5755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Authorized reviewers add remarks and mark checking status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9B6D34-5A43-4391-AD57-7B08A2E9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00250"/>
            <a:ext cx="1885950" cy="2000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A1FF46-2AB1-4373-8DB9-B5A147D9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09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C30216-500A-4266-9202-0D88E0D5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669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F14890-525E-4380-85D0-289A00F3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384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Monitor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6A3D19-80A4-4B25-8FA8-3C59F948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25755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Compliance shows overdue files and items for checking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F8269D-2A8C-4F45-AC68-1BABAF8F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0125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Checking stays in Archive. Compliance helps leaders decide who needs follow-up.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0BBC65-FC93-4094-9032-618677A8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BDE7A4-4FBB-4450-AF03-C6A8AAA3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72965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EFB4A7-9F15-4E66-BED5-9BBE716B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D3203-9BC5-4C43-8857-9AE41BEA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Tools shared across roles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3a77f38904491e"/>
          <a:stretch xmlns:a="http://schemas.openxmlformats.org/drawingml/2006/main"/>
        </p:blipFill>
        <p:spPr>
          <a:xfrm xmlns:a="http://schemas.openxmlformats.org/drawingml/2006/main">
            <a:off x="10839450" y="3238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6B4CB-99C2-4474-8082-520484C8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4762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B8DAA-68D1-4942-AE89-57F0A614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00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942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Tracker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01EEC-3D82-41BE-AB0E-A59D205B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Shows submitted, missing, late, and review items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06251-A9FB-4803-A330-CD97E6A2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4762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F6A10-9359-473D-89BC-D30015AA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00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942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Calendar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7F2A7-93C7-4931-B119-D7F338BD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050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Displays school year, terms, weeks, and deadlines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A32C6-E027-4A79-99F0-D9444D67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4762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C66CF1-875A-41FE-9D9D-E8AC0775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942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Archive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D19A4-E6C1-4CF0-85A9-A8EBBF6B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Stores documents with search, filters, remarks, and download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84010-C1FB-44DA-B6DE-93BED734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86050"/>
            <a:ext cx="4762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8AEEA4-FC9F-4DD9-939D-AD3914C1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942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QR verification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61DD38-6721-4F30-8407-B27229FD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Confirms authenticity of stamped PDF files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BE803-1F6F-49B0-B7A8-C0CF3B5A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4762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7EC388-C968-4C5E-9543-225991F6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942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Notifications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7F002B-29CD-4B08-ACD1-3540F49E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Alerts users about deadlines, remarks, and tasks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E8B913-6638-415B-A54F-D3C2D286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D809B5-504C-40AA-836B-03354D3D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942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Gabay chatbot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1BCE4D-8F14-49DE-A513-F82447AC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196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Answers questions using the user role and available data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d29df6b89464f"/>
          <a:stretch xmlns:a="http://schemas.openxmlformats.org/drawingml/2006/main"/>
        </p:blipFill>
        <p:spPr>
          <a:xfrm xmlns:a="http://schemas.openxmlformats.org/drawingml/2006/main">
            <a:off x="10441662" y="5410200"/>
            <a:ext cx="719376" cy="7239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0E0263-B044-488B-B875-C034BBB5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E42BA7-8E7E-44C8-83E6-9AA12EBB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50541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12B706-0788-4007-94ED-5C26600D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CDA75-6FF5-45A9-80D3-19F5AF3D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Teacher role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dd6f7feac4218"/>
          <a:stretch xmlns:a="http://schemas.openxmlformats.org/drawingml/2006/main"/>
        </p:blipFill>
        <p:spPr>
          <a:xfrm xmlns:a="http://schemas.openxmlformats.org/drawingml/2006/main">
            <a:off x="10839450" y="3238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02C1B-2148-4656-9BC7-B7FA4707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Main purpose: submit the correct document for each teaching load, term, and week.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A40664-5D5C-45D7-9D4D-D1FD6E6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811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Daily 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B3161-3CF8-4AD7-9A7D-74086186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What teachers check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B01D9-14F6-4D4D-8DC3-5189C2E0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5BE52-14C2-4A0D-88CE-3722CBC1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8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Open Tracker for missing or upcoming DLLs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438F9-FEDB-4896-BC1C-0F50F455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1ED6C-FD08-4EAA-B1F2-5E92FA28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813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60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Use Teaching Load for assigned subjects and grades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C9D0F-8A3B-4397-B316-25292F44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51FDE2-1782-4449-863A-1BDF8F5B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19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Check Archive for past submissions and feedback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6D41C-5C35-4F3C-9723-BFF1C361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8A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8A4F"/>
                </a:solidFill>
                <a:latin typeface="Aptos"/>
                <a:ea typeface="Aptos"/>
                <a:cs typeface="Aptos"/>
              </a:rPr>
              <a:t>Upload 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03716-AA1D-416B-8F44-7040AA0B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What the system helps detect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6075B9-AE12-4203-A999-0EA57220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47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60654A-829E-474A-A9A8-40260885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717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Reads PDF, DOC, or DOCX files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9F49E6-F0C8-4F16-AA3D-20D58088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57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F6A85C-1E8A-40FC-A130-968F4EE8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813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Suggests subject, grade, term, week, and document type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7D788B-DCC5-4F0F-85C6-82E7FF51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D509FD-D8C0-45DD-AC44-3B491547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909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91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Flags possible duplicate or mismatched files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3D2CD8-091E-4D76-9922-E92A24DD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811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B70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B705"/>
                </a:solidFill>
                <a:latin typeface="Aptos"/>
                <a:ea typeface="Aptos"/>
                <a:cs typeface="Aptos"/>
              </a:rPr>
              <a:t>After upload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9EE1C6-6E36-483B-8D32-4A6FE4FB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240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What teachers can prove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6E7918-D9E3-441D-98CB-FF14F2EF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47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3DC10B-18AB-45A3-9401-5D1DC105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717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PDF receives a QR verification stamp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9177DA-7475-4905-BC7F-9B3EF578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57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BDFBB3-6067-4A41-913F-D2CCD8A5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60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Submission status shows on time, late, or missing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A76BD6-8C6C-4AD5-9604-4C9D3A98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9CF89F-AC87-4111-BE52-B574564A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909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23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Review comments stay connected to the archived file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CA5C41-D0A7-407B-A949-639790C9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EE5569-8588-450A-ACF5-D76CC740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51337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ECAAC0-7F16-43CB-83F6-228CEFF1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8C352-C8D8-46B7-9983-ADFAF7B2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Teacher upload flow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fce89d49f4103"/>
          <a:stretch xmlns:a="http://schemas.openxmlformats.org/drawingml/2006/main"/>
        </p:blipFill>
        <p:spPr>
          <a:xfrm xmlns:a="http://schemas.openxmlformats.org/drawingml/2006/main">
            <a:off x="10839450" y="3238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B4EBE-FEA1-452F-8717-E78DC620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24000"/>
            <a:ext cx="8763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CF3D9-8C02-43D4-AA60-8C25282B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6954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65D79-5D4B-484F-9409-AC6CE255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57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Choose 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0EE0B-8DA4-4134-B786-64C4E420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859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Select PDF, DOC, DOCX, JPG, or PNG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BD176-05F7-4A14-BF05-8FA3D11C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8763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A7834-67DB-4229-86CF-513C2A16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670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657ABE-0F70-46CC-B670-8608DF93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28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Confirm details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3D232A-6288-4B20-8697-B1945663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574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Review detected load, term, week, subject, and grade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C0AC41-0D81-4393-A738-CB62A5BD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67100"/>
            <a:ext cx="8763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D7F074-12EE-438C-9CAB-B4EE38F0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385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F0E2A3-2BE5-428A-9EBD-CD845EA2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00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Submit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37F757-99D3-474B-B992-09451B32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290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CEDIMS converts, stamps, stores, and records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8D2228-4043-49AD-8E2C-7E3AEAD1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38650"/>
            <a:ext cx="8763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B7D8C2-29FE-42A1-B730-E3E025C6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101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B57202-0666-4EAB-99A6-E0FB11A6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72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Check Archive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305293-C3A8-425E-8960-DCF24871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005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Teacher can verify the final file and view remarks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375ADE-88C1-45FD-AD14-86A94976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578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Best explanation: the teacher still confirms the result before archiving.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727F61-9472-42A9-B028-50A742FE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33D92F-5E5C-47EA-A39C-F08494B8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073286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553C41-B989-4E0A-87A4-FC36FD9D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D6184-49EE-4FA1-88D1-DABBC03B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Master Teacher role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5264a13214a77"/>
          <a:stretch xmlns:a="http://schemas.openxmlformats.org/drawingml/2006/main"/>
        </p:blipFill>
        <p:spPr>
          <a:xfrm xmlns:a="http://schemas.openxmlformats.org/drawingml/2006/main">
            <a:off x="10839450" y="3238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0BCE6-A1E9-43E5-A491-EE41B493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Main purpose: submit required documents and help the school review and improve DLL compliance.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79438-AE96-4633-BECC-3168328D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572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8AD4D-83E1-416C-AA82-626D488B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14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BE596-8D8C-4ED8-AA87-BF694FC2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Own submissions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20ACA-B308-4717-BDA1-C76CDD3B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622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Can upload Daily Lesson Plans with teaching load, plus ISP or ISR when required.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06FEAE-0522-4228-905E-C55A8BA4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4572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AFC1F-73C2-4A31-8561-8502F9FB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114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D208D-B798-46A2-9A88-C3DB978A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00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8A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8A4F"/>
                </a:solidFill>
                <a:latin typeface="Aptos"/>
                <a:ea typeface="Aptos"/>
                <a:cs typeface="Aptos"/>
              </a:rPr>
              <a:t>Compliance support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E11C2-C2F5-4D02-9CBB-9A73C7A2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Uses Compliance to see missing, late, or unchecked DLLs in one focused list.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BCA88-2C9E-4B3B-94A2-3FB6C3BD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4572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C97A8-A7B5-4FE3-9278-7958DE3B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114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535725-76FC-4518-91AE-E49ECC52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B70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B705"/>
                </a:solidFill>
                <a:latin typeface="Aptos"/>
                <a:ea typeface="Aptos"/>
                <a:cs typeface="Aptos"/>
              </a:rPr>
              <a:t>Archive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3BE2E4-665E-4AF1-9D7E-7FCF75D4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Filters documents, opens files, adds remarks, and tracks checking status.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A3EF84-8A00-422F-835D-32F7CC93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4572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54FFE5-2878-499F-B298-71FB1962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114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09AD61-88C3-4272-AF81-83169A3E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195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Teacher patterns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1F9C85-834C-4752-B5F5-AF647F1F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814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Uses K-means groups to identify teachers who need routine support first.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11E1F3-7531-4F04-BEFB-9E129B68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5DD231-F4B8-481A-8A03-961B0ADF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36001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35C8A6-30EF-41C6-A6C7-1B8C5F8B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69388-6DF2-46CF-B9AC-96FC2618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School Head role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2d710f56848af"/>
          <a:stretch xmlns:a="http://schemas.openxmlformats.org/drawingml/2006/main"/>
        </p:blipFill>
        <p:spPr>
          <a:xfrm xmlns:a="http://schemas.openxmlformats.org/drawingml/2006/main">
            <a:off x="10839450" y="3238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1E423-6636-4478-B713-45EB3526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Main purpose: monitor school compliance, check files, and guide teachers with clear follow-up.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03E2D-71DB-4F93-9344-48EBBBD4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66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7271E-42D4-4062-98E8-CCD219CF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90750"/>
            <a:ext cx="956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Compliance shows overdue DLLs, files for checking, and submitted of expected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D8C974-35AA-4CD1-977A-C8566A8B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AD957-3A10-4955-AD27-1A7F7D62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33700"/>
            <a:ext cx="956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K-means grouping separates one-week misses from repeated submission patterns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FAE60-0373-4A7D-85FC-CBDCF042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E9E2D-F8E5-4874-85E1-BA37BA1B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76650"/>
            <a:ext cx="956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Archive keeps checking work: remarks, approval status, document search, and exports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48EFF4-F81E-4BAE-BA45-4157D48D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65C68-455C-414A-A55A-CE1A6105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9600"/>
            <a:ext cx="956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Reports support meetings, coaching, and submission follow-up by term and week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68505E-F8EB-455C-82B7-BE87220E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81915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8D7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30D00B-8217-4950-9A50-AF5FEEE8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600700"/>
            <a:ext cx="771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Easy explanation: School Heads use Compliance to decide who to follow up, then use Archive to check the actual file.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B31D4D-601A-4C86-BD49-7DF8AAFB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B2546C-1C22-4827-B111-850CA829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244968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A3F166F-EB8A-4549-9031-2AE4BA13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93E3D-24AB-48E1-B109-1399EF16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Role access at a glance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f2b3081904ceb"/>
          <a:stretch xmlns:a="http://schemas.openxmlformats.org/drawingml/2006/main"/>
        </p:blipFill>
        <p:spPr>
          <a:xfrm xmlns:a="http://schemas.openxmlformats.org/drawingml/2006/main">
            <a:off x="10839450" y="3238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F27C7-349A-4F3C-8A7E-9DE0D041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47650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40AF"/>
          </a:solidFill>
          <a:ln xmlns:a="http://schemas.openxmlformats.org/drawingml/2006/main" w="9525">
            <a:solidFill>
              <a:srgbClr val="1E40A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48355-6801-4E13-AD9E-7E53F323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BB20F-E5EB-4A0A-80A4-36F47080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28750"/>
            <a:ext cx="2571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94E4CD-EADB-41B8-83F3-D57A7D19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0020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Teacher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0C902-2285-4E9E-A1DC-ED6C0295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BD5D5-BD99-45F0-B934-BC766D8D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00200"/>
            <a:ext cx="2647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Master Teacher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A37EB-2B3F-42B6-8736-E72DABD2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2875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FEAAE-CFC8-4A17-B895-3B7C3D43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00200"/>
            <a:ext cx="2647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School Head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434E5-2518-4C85-9427-6EA1CE6C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247650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ECEF4-CECD-4C8C-AA2C-C36DF1C2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6217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Tracker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45833-527E-4ABE-9428-716CC557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19300"/>
            <a:ext cx="2571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F5D4FD-616C-4A7C-B09E-066D3E12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621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Own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D10F6C-17D8-4922-A3E8-23D21A87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1930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A13F24-5265-4F02-BB46-9CB3EDFD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6217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Own plus review items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4EB140-0A55-4D3C-81E5-D6563F75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1930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CBC034-F782-453C-A075-E013ED49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6217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School review status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0206D0-95C5-4649-9EB6-81DD5B5A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247650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7E814E-E281-4393-8D7C-E2985194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527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3A495D-6736-4B88-AFA3-B5F329D6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9850"/>
            <a:ext cx="2571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78ACF0-E8F7-4601-A326-233C4259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5272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DLL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5271FA-CC97-4851-AF31-23502776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0985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FB563F-5941-40D8-9146-15ED7FBA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5272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DLL, ISP, ISR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51EE15-B637-448B-A577-59F8FA8F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0985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C3B198-61A7-48A9-8C0B-F6D242FC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5272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ISP, ISR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85E92B-4FC1-4C48-BAFB-7ED6331B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247650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F4A33E-E559-479A-B180-2B303C80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4327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Loads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781B21-CCFC-4B21-A3EF-873402C5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0400"/>
            <a:ext cx="2571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937866-AE59-4A7D-BDC3-C386A1ED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432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Own teaching load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B34102-FE6B-4FFB-AB6E-EB0C7632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0040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BAB94E-CDBC-4E09-82B9-9A447CFC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4327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Own teaching load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9734C8-5E30-4C40-BDCF-4B49FD88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0040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13CD39-C3D4-4A91-9827-20156AD3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4327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View through monitoring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7CE91C-6018-400B-91DB-677EBD7C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247650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F3BD88-D8E0-4A22-8C3D-115F91F5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338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Compliance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9E99FD-204B-42B7-A993-B13368DB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90950"/>
            <a:ext cx="2571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AC50BC-A116-405C-9E78-82967330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382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Personal tracker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C0C2F3-394D-4849-B8EB-517FFB38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9095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07A70C-DE2F-4F6F-B3AF-4B633777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3382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Teacher follow-up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DD0C8C-0A15-4B4E-835D-E8E62A15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9095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9E5868-593A-4E4D-BC6A-0511ECEE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3382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School follow-up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A0D09C-FD59-4EC3-8AE1-EB605B00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247650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57C9BC-CD0C-4D3E-8817-7F563032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2437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Archive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378F46-BAA1-482A-8453-EDCAC840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2571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86A5CF-F173-47B3-A855-51BD1830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243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Own files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1D926A6-4B8C-4CC6-A22C-59213C92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8150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B9C994B-5FA8-4730-8AA5-075AE7E1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52437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School files for review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4E3F952-9290-4DFB-A0A8-79500C96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8150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AE6768D-4633-45C1-9D81-136FD297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2437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School files and remarks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2FC38C3-E773-430D-9140-0943BEE4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575987E-6B85-4494-9AF0-D4601DDF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003235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268e7d44ec4a5a"/>
          <a:stretch xmlns:a="http://schemas.openxmlformats.org/drawingml/2006/main"/>
        </p:blipFill>
        <p:spPr>
          <a:xfrm xmlns:a="http://schemas.openxmlformats.org/drawingml/2006/main">
            <a:off x="762000" y="6667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5CF57-F911-469A-B8AD-6412E504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How to explain CEDIMS in one minute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93782-2B43-43C6-AD1B-C2720465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Teachers submit and track. Master Teachers review and support. School Heads monitor and follow up. The Archive keeps the evidence, and Compliance tells leaders where attention is needed.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219F6-F074-4AC0-8C51-22300025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942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E40AF"/>
          </a:solidFill>
          <a:ln xmlns:a="http://schemas.openxmlformats.org/drawingml/2006/main" w="9525">
            <a:solidFill>
              <a:srgbClr val="1E40A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E2499-4BE3-41BC-AE39-C35FE3A3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862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63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goal is simple: fewer missing DLLs, faster checking, and clearer documentation for every school week.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DBC54-B3A2-4A49-A9A1-E7C4335A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Suggested next demo: open Upload, show one archived file, then open Compliance for follow-up decisions.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14323-5C32-4228-A455-C291A069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F9949-BED8-4869-8902-BDD146E0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24803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2026-09-28T16:32:16.7690000Z</dcterms:created>
  <dcterms:modified xsi:type="dcterms:W3CDTF">2026-09-28T16:32:16.7690000Z</dcterms:modified>
</coreProperties>
</file>