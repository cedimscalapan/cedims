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5c3a9ffeb684c3c" /><Relationship Type="http://schemas.openxmlformats.org/officeDocument/2006/relationships/extended-properties" Target="/docProps/app.xml" Id="Rc4cdb07fdc4c4c07" /><Relationship Type="http://schemas.openxmlformats.org/officeDocument/2006/relationships/officeDocument" Target="/ppt/presentation.xml" Id="R860c60260a7e44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7d095d737e24ed7"/>
  </p:sldMasterIdLst>
  <p:notesMasterIdLst>
    <p:notesMasterId xmlns:r="http://schemas.openxmlformats.org/officeDocument/2006/relationships" r:id="R03e930ad9fe349dc"/>
  </p:notesMasterIdLst>
  <p:sldIdLst>
    <p:sldId xmlns:r="http://schemas.openxmlformats.org/officeDocument/2006/relationships" id="256" r:id="Rdf51cd72ee714b54"/>
    <p:sldId xmlns:r="http://schemas.openxmlformats.org/officeDocument/2006/relationships" id="257" r:id="R0b846545f19b4281"/>
    <p:sldId xmlns:r="http://schemas.openxmlformats.org/officeDocument/2006/relationships" id="258" r:id="R71ba835a6160478d"/>
    <p:sldId xmlns:r="http://schemas.openxmlformats.org/officeDocument/2006/relationships" id="259" r:id="R639b2a5feed643f6"/>
    <p:sldId xmlns:r="http://schemas.openxmlformats.org/officeDocument/2006/relationships" id="260" r:id="R00ba4522627b4b68"/>
    <p:sldId xmlns:r="http://schemas.openxmlformats.org/officeDocument/2006/relationships" id="261" r:id="R47d255fd8df048fc"/>
    <p:sldId xmlns:r="http://schemas.openxmlformats.org/officeDocument/2006/relationships" id="262" r:id="R7ed26b146cdb4c15"/>
    <p:sldId xmlns:r="http://schemas.openxmlformats.org/officeDocument/2006/relationships" id="263" r:id="R5218dc06afeb4c4b"/>
    <p:sldId xmlns:r="http://schemas.openxmlformats.org/officeDocument/2006/relationships" id="264" r:id="R24c256be084f472d"/>
    <p:sldId xmlns:r="http://schemas.openxmlformats.org/officeDocument/2006/relationships" id="265" r:id="R748d9e8632614e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c6400d1c7342e2" /><Relationship Type="http://schemas.openxmlformats.org/officeDocument/2006/relationships/slideMaster" Target="/ppt/slideMasters/slideMaster1.xml" Id="R97d095d737e24ed7" /><Relationship Type="http://schemas.openxmlformats.org/officeDocument/2006/relationships/notesMaster" Target="/ppt/notesMasters/notesMaster1.xml" Id="R03e930ad9fe349dc" /><Relationship Type="http://schemas.openxmlformats.org/officeDocument/2006/relationships/presProps" Target="/ppt/presProps.xml" Id="Rfdf09fc107724eec" /><Relationship Type="http://schemas.openxmlformats.org/officeDocument/2006/relationships/tableStyles" Target="/ppt/tableStyles.xml" Id="Rcd70ed5f7e55405e" /><Relationship Type="http://schemas.openxmlformats.org/officeDocument/2006/relationships/slide" Target="/ppt/slides/slide1.xml" Id="Rdf51cd72ee714b54" /><Relationship Type="http://schemas.openxmlformats.org/officeDocument/2006/relationships/slide" Target="/ppt/slides/slide2.xml" Id="R0b846545f19b4281" /><Relationship Type="http://schemas.openxmlformats.org/officeDocument/2006/relationships/slide" Target="/ppt/slides/slide3.xml" Id="R71ba835a6160478d" /><Relationship Type="http://schemas.openxmlformats.org/officeDocument/2006/relationships/slide" Target="/ppt/slides/slide4.xml" Id="R639b2a5feed643f6" /><Relationship Type="http://schemas.openxmlformats.org/officeDocument/2006/relationships/slide" Target="/ppt/slides/slide5.xml" Id="R00ba4522627b4b68" /><Relationship Type="http://schemas.openxmlformats.org/officeDocument/2006/relationships/slide" Target="/ppt/slides/slide6.xml" Id="R47d255fd8df048fc" /><Relationship Type="http://schemas.openxmlformats.org/officeDocument/2006/relationships/slide" Target="/ppt/slides/slide7.xml" Id="R7ed26b146cdb4c15" /><Relationship Type="http://schemas.openxmlformats.org/officeDocument/2006/relationships/slide" Target="/ppt/slides/slide8.xml" Id="R5218dc06afeb4c4b" /><Relationship Type="http://schemas.openxmlformats.org/officeDocument/2006/relationships/slide" Target="/ppt/slides/slide9.xml" Id="R24c256be084f472d" /><Relationship Type="http://schemas.openxmlformats.org/officeDocument/2006/relationships/slide" Target="/ppt/slides/slide10.xml" Id="R748d9e8632614e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1fb353ba1e44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2e4dd7fe41439a" /><Relationship Type="http://schemas.openxmlformats.org/officeDocument/2006/relationships/notesMaster" Target="/ppt/notesMasters/notesMaster1.xml" Id="R1deba1ca8cc748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61692bb87e4206" /><Relationship Type="http://schemas.openxmlformats.org/officeDocument/2006/relationships/notesMaster" Target="/ppt/notesMasters/notesMaster1.xml" Id="R6f96ed0b26e84c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cfd596a2034645" /><Relationship Type="http://schemas.openxmlformats.org/officeDocument/2006/relationships/notesMaster" Target="/ppt/notesMasters/notesMaster1.xml" Id="Rd51273789f4545c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686e250b8e445fb" /><Relationship Type="http://schemas.openxmlformats.org/officeDocument/2006/relationships/notesMaster" Target="/ppt/notesMasters/notesMaster1.xml" Id="R4b5862e91c4e4c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57588485b84210" /><Relationship Type="http://schemas.openxmlformats.org/officeDocument/2006/relationships/notesMaster" Target="/ppt/notesMasters/notesMaster1.xml" Id="R263689400ecc47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ac457f69dd43fb" /><Relationship Type="http://schemas.openxmlformats.org/officeDocument/2006/relationships/notesMaster" Target="/ppt/notesMasters/notesMaster1.xml" Id="R29439e842362471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af09e7115f4fd3" /><Relationship Type="http://schemas.openxmlformats.org/officeDocument/2006/relationships/notesMaster" Target="/ppt/notesMasters/notesMaster1.xml" Id="R30d6d375e75947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ccb65683574485" /><Relationship Type="http://schemas.openxmlformats.org/officeDocument/2006/relationships/notesMaster" Target="/ppt/notesMasters/notesMaster1.xml" Id="R33e2aa68ab474b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19768d7c42a43aa" /><Relationship Type="http://schemas.openxmlformats.org/officeDocument/2006/relationships/notesMaster" Target="/ppt/notesMasters/notesMaster1.xml" Id="R613937670c4f46d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a4e24235df4a0c" /><Relationship Type="http://schemas.openxmlformats.org/officeDocument/2006/relationships/notesMaster" Target="/ppt/notesMasters/notesMaster1.xml" Id="R65ff51486e9246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CEDIMS as the school and district system for submitting, checking, archiving, and monitoring instructional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system in one plain sentence first, then connect each role to the part they use most.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explain the system flow from document preparation to compliance follow-up.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features appear across roles, although each role sees different data based on permissions.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the teacher workflow focuses on accurate submission and personal tracking.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to walk a teacher through the upload screen in order.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Master Teachers have both personal upload responsibilities and school support responsibilities.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Stress the difference between Compliance and Archive. Compliance is for follow-up decisions. Archive is for document checking.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table summarizes the practical difference between the three requested roles.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as the closing script. It connects each role to a clear action and closes with the purpose of the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docs/UserManual_Concise.md; src/lib/config/navigation.ts; src/lib/config/walkthroughSteps.ts; static/manifest.json.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a579c873b1487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d64a7a7a4ba44ad" /><Relationship Type="http://schemas.openxmlformats.org/officeDocument/2006/relationships/slideLayout" Target="/ppt/slideLayouts/slideLayout1.xml" Id="R5ad37703bf334c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d37703bf334c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44f4908ebd4741" /><Relationship Type="http://schemas.openxmlformats.org/officeDocument/2006/relationships/image" Target="/ppt/media/image.jpeg" Id="R26dba82e52404936" /><Relationship Type="http://schemas.openxmlformats.org/officeDocument/2006/relationships/image" Target="/ppt/media/image.png" Id="R7519a64d1cd14e23" /><Relationship Type="http://schemas.openxmlformats.org/officeDocument/2006/relationships/image" Target="/ppt/media/image2.png" Id="R25216a85b1894d31" /><Relationship Type="http://schemas.openxmlformats.org/officeDocument/2006/relationships/notesSlide" Target="/ppt/notesSlides/notesSlide1.xml" Id="R0bd5d99e5a3245f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1c7edb5af46ab" /><Relationship Type="http://schemas.openxmlformats.org/officeDocument/2006/relationships/image" Target="/ppt/media/image3.png" Id="R276a4d5e69204f73" /><Relationship Type="http://schemas.openxmlformats.org/officeDocument/2006/relationships/notesSlide" Target="/ppt/notesSlides/notesSlide2.xml" Id="R69ace2cdc5074b9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5913a5d674abc" /><Relationship Type="http://schemas.openxmlformats.org/officeDocument/2006/relationships/image" Target="/ppt/media/image4.png" Id="Rbce1f5f6a2c145e5" /><Relationship Type="http://schemas.openxmlformats.org/officeDocument/2006/relationships/notesSlide" Target="/ppt/notesSlides/notesSlide3.xml" Id="Rb175cddbd8484d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faeb5dd5094625" /><Relationship Type="http://schemas.openxmlformats.org/officeDocument/2006/relationships/image" Target="/ppt/media/image5.png" Id="R6eb9587ddf7748af" /><Relationship Type="http://schemas.openxmlformats.org/officeDocument/2006/relationships/image" Target="/ppt/media/image6.png" Id="R932d127d3ff646d3" /><Relationship Type="http://schemas.openxmlformats.org/officeDocument/2006/relationships/notesSlide" Target="/ppt/notesSlides/notesSlide4.xml" Id="R15773b1bc0034e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287245cd146df" /><Relationship Type="http://schemas.openxmlformats.org/officeDocument/2006/relationships/image" Target="/ppt/media/image7.png" Id="Rf0b402aff93044c8" /><Relationship Type="http://schemas.openxmlformats.org/officeDocument/2006/relationships/notesSlide" Target="/ppt/notesSlides/notesSlide5.xml" Id="R4a498436b01c40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9bdc034314139" /><Relationship Type="http://schemas.openxmlformats.org/officeDocument/2006/relationships/image" Target="/ppt/media/image8.png" Id="R2a447d4bb4844e7e" /><Relationship Type="http://schemas.openxmlformats.org/officeDocument/2006/relationships/notesSlide" Target="/ppt/notesSlides/notesSlide6.xml" Id="R8716714c15bb440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3fe15a2b584924" /><Relationship Type="http://schemas.openxmlformats.org/officeDocument/2006/relationships/image" Target="/ppt/media/image9.png" Id="R15608d6636354517" /><Relationship Type="http://schemas.openxmlformats.org/officeDocument/2006/relationships/notesSlide" Target="/ppt/notesSlides/notesSlide7.xml" Id="R5f147a0fab6d474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0f976724e42d3" /><Relationship Type="http://schemas.openxmlformats.org/officeDocument/2006/relationships/image" Target="/ppt/media/image10.png" Id="R8ff3351364dd4206" /><Relationship Type="http://schemas.openxmlformats.org/officeDocument/2006/relationships/notesSlide" Target="/ppt/notesSlides/notesSlide8.xml" Id="Rbbc5762cfb0a44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c93aa62e84b04" /><Relationship Type="http://schemas.openxmlformats.org/officeDocument/2006/relationships/image" Target="/ppt/media/image11.png" Id="Rbe44e6b0131e4027" /><Relationship Type="http://schemas.openxmlformats.org/officeDocument/2006/relationships/notesSlide" Target="/ppt/notesSlides/notesSlide9.xml" Id="Rf81c562a604541c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09b3ccbea4fae" /><Relationship Type="http://schemas.openxmlformats.org/officeDocument/2006/relationships/image" Target="/ppt/media/image12.png" Id="R9575fc63b5b5449a" /><Relationship Type="http://schemas.openxmlformats.org/officeDocument/2006/relationships/notesSlide" Target="/ppt/notesSlides/notesSlide10.xml" Id="R992ed0ef52b9408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E40A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dba82e52404936"/>
          <a:srcRect xmlns:a="http://schemas.openxmlformats.org/drawingml/2006/main" l="7778" t="0" r="777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0" y="0"/>
            <a:ext cx="57912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D42E1D-5226-4744-9993-742E23BB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>
              <a:alpha val="60000"/>
            </a:srgbClr>
          </a:solidFill>
          <a:ln xmlns:a="http://schemas.openxmlformats.org/drawingml/2006/main" w="0">
            <a:noFill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19a64d1cd14e23"/>
          <a:stretch xmlns:a="http://schemas.openxmlformats.org/drawingml/2006/main"/>
        </p:blipFill>
        <p:spPr>
          <a:xfrm xmlns:a="http://schemas.openxmlformats.org/drawingml/2006/main">
            <a:off x="685800" y="691896"/>
            <a:ext cx="857250" cy="692658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216a85b1894d31"/>
          <a:stretch xmlns:a="http://schemas.openxmlformats.org/drawingml/2006/main"/>
        </p:blipFill>
        <p:spPr>
          <a:xfrm xmlns:a="http://schemas.openxmlformats.org/drawingml/2006/main">
            <a:off x="1676400" y="68580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1A66E5-3A14-4F55-A858-69C4D3832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782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CEDIMS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920F8E-4DFD-4E6D-AB15-0C05D890D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4762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AF1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EAF1FF"/>
                </a:solidFill>
                <a:latin typeface="Aptos"/>
                <a:ea typeface="Aptos"/>
                <a:cs typeface="Aptos"/>
              </a:rPr>
              <a:t>Calapan East District</a:t>
            </a:r>
          </a:p>
          <a:p xmlns:a="http://schemas.openxmlformats.org/drawingml/2006/main">
            <a:pPr algn="l">
              <a:defRPr sz="1875" b="0">
                <a:solidFill>
                  <a:srgbClr val="EAF1FF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EAF1FF"/>
                </a:solidFill>
                <a:latin typeface="Aptos"/>
                <a:ea typeface="Aptos"/>
                <a:cs typeface="Aptos"/>
              </a:rPr>
              <a:t>Instructional Monitoring System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5A0EC-1137-4DD7-A846-E47226171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B70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System overview and role guide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B636DD-8B3D-4F5C-9585-88E731265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8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CE8FF"/>
                </a:solidFill>
                <a:latin typeface="Aptos"/>
                <a:ea typeface="Aptos"/>
                <a:cs typeface="Aptos"/>
              </a:rPr>
              <a:t>For Teachers, Master Teachers, and School Heads</a:t>
            </a:r>
          </a:p>
        </p:txBody>
      </p:sp>
    </p:spTree>
    <p:extLst>
      <p:ext uri="{BB962C8B-B14F-4D97-AF65-F5344CB8AC3E}">
        <p14:creationId xmlns:p14="http://schemas.microsoft.com/office/powerpoint/2010/main" val="959622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F20768-2C95-415D-9DC6-4CC1A2D8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875E7-28D9-4E56-8BAD-FDED1F7B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What the system does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a4d5e69204f73"/>
          <a:stretch xmlns:a="http://schemas.openxmlformats.org/drawingml/2006/main"/>
        </p:blipFill>
        <p:spPr>
          <a:xfrm xmlns:a="http://schemas.openxmlformats.org/drawingml/2006/main">
            <a:off x="10839450" y="3238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0F79FF-A114-4AA4-BB15-66B7C5474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CEDIMS keeps instructional document work in one place: upload, verify, review, archive, and monitor compliance by school year, term, and week.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CDF42E-EFA1-4FA9-B51E-2D3A91FB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99060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48DC60-2BAD-47FA-A9E5-03827CB8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5A420-6F3D-4064-88AA-097C42C6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Teachers submit DLLs and track their own weekly requirements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F2EF65-2272-44A4-8A30-6CBB1F48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99060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F1DE9-D340-443A-8A6D-67EDD1180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8E7CF9-ADCE-4157-B896-5840DC8B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242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Master Teachers help review files and support teacher compliance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2BB75D-6391-48B4-911B-A2B35D56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99060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5DFE9C-F16A-466C-A181-00FC17F9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3A986-35D9-4E19-80C7-CD54C93F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6720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School Heads monitor the whole school and follow up missing work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56ADDB-B231-4B8C-B679-5162B614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990600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6377EE-4F53-4F8E-ACD9-1153DBEE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95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8E29A6-6C21-4F15-9403-57BA84D8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10150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507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Archives preserve every submitted file with search, remarks, and QR verification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127449-CAD7-48A5-B86F-DF29362A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BE48A-411B-4D97-A553-A3E37534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663872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3985B1-16FC-418D-A9B4-948912D0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340291-24B6-4D5E-B854-98810CE6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Main workflow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e1f5f6a2c145e5"/>
          <a:stretch xmlns:a="http://schemas.openxmlformats.org/drawingml/2006/main"/>
        </p:blipFill>
        <p:spPr>
          <a:xfrm xmlns:a="http://schemas.openxmlformats.org/drawingml/2006/main">
            <a:off x="10839450" y="3238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63E424-B211-4334-B463-59BD0B61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885950" cy="2000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BFA93-8CF7-4633-991F-4DC35BA7F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700D8-BF72-4DC7-A341-BF83F2D4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66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BAB8AB-5E36-4271-ABAC-66683AC3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384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F17995-403E-470B-B09A-135BBA78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Teacher prepares the required DLL or supervisory document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F4C071-F198-4E03-887A-99903997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00250"/>
            <a:ext cx="1885950" cy="2000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92DB2-8842-4396-870B-BE899DF3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09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77BB24-0F98-4E14-867A-1C6DDDAB5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266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256DC1-FAED-46DA-B14A-650B8115E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384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D871E9-247D-4F5A-8C26-56DC695B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2575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CEDIMS reads the file, detects details, and confirms the period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730656-DF00-4C1F-BE66-C35CE712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885950" cy="2000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4EB7A-2C4D-4552-80B9-04F9B289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8A4F03-549F-4787-890E-7E95A724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66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35BBF8-7201-43B7-BF8F-8B162774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8384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Archive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276FEE-80E8-4F39-AB3A-AA889322A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2575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The submitted PDF receives a QR stamp and stays searchable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CCDC6D-CE6F-4101-A8A9-7682C225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000250"/>
            <a:ext cx="1885950" cy="2000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61F738-1021-4A03-991C-1BBF30E1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09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CE6B0D-1B2E-4697-8CAA-0F2E3EF0A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66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1EA2BE-1F16-4A63-9D59-03DBCBED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384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B19193-1783-4F0C-8259-84E48624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575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Authorized reviewers add remarks and mark checking status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2B841F-410A-43C2-91FA-F20E92EB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000250"/>
            <a:ext cx="1885950" cy="2000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BF33F8-F738-4726-B281-130CDD49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098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0E5C7A-3A2E-4AA8-AE93-B3A34182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266950"/>
            <a:ext cx="419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2305B8-7852-4272-BE07-A28BA3CE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838450"/>
            <a:ext cx="1504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159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Monitor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CFAB8A-9F0B-40F6-824A-C5EA07AC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2575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Compliance shows overdue files and items for checking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B84EF9-8F29-493B-9829-15A142692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10125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Checking stays in Archive. Compliance helps leaders decide who needs follow-up.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7C9FAD-4B0A-4A43-889C-C68C521A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1AD566-B58F-4930-98FC-15807FB9E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2411356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350C31-16C4-4E82-A611-18979101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B470D8-4767-42CC-9C77-108DE97C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Tools shared across roles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9587ddf7748af"/>
          <a:stretch xmlns:a="http://schemas.openxmlformats.org/drawingml/2006/main"/>
        </p:blipFill>
        <p:spPr>
          <a:xfrm xmlns:a="http://schemas.openxmlformats.org/drawingml/2006/main">
            <a:off x="10839450" y="3238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BB8D8A-3BBA-44BE-AF72-413C4DE8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4762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4CA189-51A2-45B8-BB39-040D7B23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00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42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Tracker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04A7B4-A9CF-4F27-9704-BB5298F5E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050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Shows submitted, missing, late, and review items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84FDD-CA68-41D1-845C-A4E89D514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28750"/>
            <a:ext cx="4762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695B8-B82B-4E2F-A465-DFD35250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600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42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Calendar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639178-657D-4F50-9C9A-E5E02E4D9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050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Displays school year, terms, weeks, and deadlines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1F681-8009-4F06-B2AB-AD72F322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86050"/>
            <a:ext cx="4762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C005C5-589F-46BC-9D45-FB748837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42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Archive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7C11AD-41BE-4B29-A653-19D6B4D27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623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Stores documents with search, filters, remarks, and download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67EAA3-9056-4ED5-ACDD-A6FB30DB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86050"/>
            <a:ext cx="4762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CF685D-3E85-4E00-A6DA-76440A1BE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42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QR verification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60EFA-63FF-4192-A4F3-6742486F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Confirms authenticity of stamped PDF files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E07D6-A83F-4154-997C-6EE1E497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4762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A2A9E4-DABF-4FEC-A711-2976C73A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14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42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Notifications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01C39C-7CC7-4733-9447-89273C91B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196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Alerts users about deadlines, remarks, and tasks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2AE7DD-4259-4907-BA85-3041A884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762500" cy="895350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CACCDA-D6D1-4A66-9C43-079DF034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114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942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Gabay chatbot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43BEFD-2F91-43D9-940E-0B2758AE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196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Answers questions using the user role and available data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2d127d3ff646d3"/>
          <a:stretch xmlns:a="http://schemas.openxmlformats.org/drawingml/2006/main"/>
        </p:blipFill>
        <p:spPr>
          <a:xfrm xmlns:a="http://schemas.openxmlformats.org/drawingml/2006/main">
            <a:off x="10441662" y="5410200"/>
            <a:ext cx="719376" cy="723900"/>
          </a:xfrm>
          <a:prstGeom xmlns:a="http://schemas.openxmlformats.org/drawingml/2006/main" prst="rect">
            <a:avLst/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7EB7BB-6C5E-4F9A-AF12-815E2D0F9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D3D7A5-39FA-4E67-9075-B3978F27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97137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F53AE0-23C2-4558-AF96-AF094C91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7F7AC4-A583-4B01-B688-8CD15484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Teacher role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402aff93044c8"/>
          <a:stretch xmlns:a="http://schemas.openxmlformats.org/drawingml/2006/main"/>
        </p:blipFill>
        <p:spPr>
          <a:xfrm xmlns:a="http://schemas.openxmlformats.org/drawingml/2006/main">
            <a:off x="10839450" y="3238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8F47A-FE5C-4976-B395-8DA5A947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Main purpose: submit the correct document for each teaching load, term, and week.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59CB59-1B3C-4492-AAD5-535027DF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811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Daily use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124FA-F967-47EA-8D60-459E0388E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240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What teachers check first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E5CCA-F277-40EA-983A-3491C30B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B7F4B-2207-4545-B37D-50BB107C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717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8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Open Tracker for missing or upcoming DLLs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12C50E-E2BA-4279-B4E7-36DF521B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B40D5-9325-438D-8A83-4E7A9CC1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813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60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Use Teaching Load for assigned subjects and grades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819F1A-9A4D-421D-8964-C1135D55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E4BABA-DE51-4ABC-9FF7-F62CC7B0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909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419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Check Archive for past submissions and feedback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F1248B-BFFF-4CB0-B2E7-0477C0E0D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811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8A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8A4F"/>
                </a:solidFill>
                <a:latin typeface="Aptos"/>
                <a:ea typeface="Aptos"/>
                <a:cs typeface="Aptos"/>
              </a:rPr>
              <a:t>Upload support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6BF4F6-176D-4317-8BD7-7AF81865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240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What the system helps detect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8AB10E-8F1C-4112-A292-FD3FA8AC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47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343B6F-6084-4215-9C80-FBA72A83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5717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Reads PDF, DOC, or DOCX files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41A666-D4BC-497C-B309-F4045EBC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5F8189-F83F-4CCD-8803-494AE4DA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1813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75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Suggests subject, grade, term, week, and document type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6CCFF2-40F8-47F4-AE0D-D74E59FC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0C4656-8FBB-4BA4-8A8C-5D3DFC474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909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91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Flags possible duplicate or mismatched files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234EBC-1E59-4D21-9437-888A4913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811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B70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After upload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AF3751-12F3-4672-A7FC-AE449011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24050"/>
            <a:ext cx="304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What teachers can prove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6DEE826-E21C-45D7-87CF-6239A1D4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47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1EB60B-ECBB-4F41-A83A-C036F4F5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717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667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PDF receives a QR verification stamp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49A917-7EFB-4DC2-B9CB-55570009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57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DB7271-9F9E-4442-8CCD-F4A472AA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813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60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Submission status shows on time, late, or missing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FAA669-FB0D-4E4E-815A-84692764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671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A34A3D-EC76-41CC-9129-8B15A9B5A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79095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232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Review comments stay connected to the archived file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AAE134-916B-4B16-95BA-6455E1E2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D87404-C788-488B-91CD-B720DFEBA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440186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9C9F61-15C5-4EAC-A50C-93A78C29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D47B5E-6616-4020-90A9-AF3975BB6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Teacher upload flow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447d4bb4844e7e"/>
          <a:stretch xmlns:a="http://schemas.openxmlformats.org/drawingml/2006/main"/>
        </p:blipFill>
        <p:spPr>
          <a:xfrm xmlns:a="http://schemas.openxmlformats.org/drawingml/2006/main">
            <a:off x="10839450" y="3238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6D53E-D72C-4540-AAA0-3F06CC57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524000"/>
            <a:ext cx="8763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A03214-4CA3-443C-A2C1-9B1E9F01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954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BDCA4-BE89-41F3-80CF-D066A4380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573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Choose file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55F01C-93B8-4AB6-A9C9-D96B59AC2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859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Select PDF, DOC, DOCX, JPG, or PNG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C9ED1A-9615-43E5-A345-51495E8D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95550"/>
            <a:ext cx="8763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D16CA9-E713-4658-8741-089A6B0C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6670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599488-F08A-4A82-8216-9FA354AC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6289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Confirm details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9EEF78-76C4-4C15-BCE6-95D19554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6574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Review detected load, term, week, subject, and grade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FA1D94-87A6-4848-B863-2A0FF20D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67100"/>
            <a:ext cx="8763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D8B2B9-5EDE-4CD9-963A-6F520FA31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3855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9DF91A-EDA9-4F01-BFCB-202A0E4B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00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Submit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474CBF-1F80-4BFC-855F-A9ADF4DA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6290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CEDIMS converts, stamps, stores, and records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A2577C-CD37-41C8-8461-C277FD21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38650"/>
            <a:ext cx="876300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E8BBA1-3627-4BA9-A004-D5843649B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10100"/>
            <a:ext cx="419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3F2598-BE96-4F57-87A4-5E830F93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720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Check Archive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4CE1C8-949D-47DC-88E8-32ED6A80A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005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Teacher can verify the final file and view remarks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24E16D-1BC0-4248-8C29-EDE41AE6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5785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Best explanation: the teacher still confirms the result before archiving.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31C018-19B3-47C9-A7D2-1AF722D0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AF4C19-2070-43B7-A4E9-7BF59DBD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234635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012CF3-E584-49B2-8004-03BB85C4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F6A93-29F8-4A86-868F-11BF419B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Master Teacher role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608d6636354517"/>
          <a:stretch xmlns:a="http://schemas.openxmlformats.org/drawingml/2006/main"/>
        </p:blipFill>
        <p:spPr>
          <a:xfrm xmlns:a="http://schemas.openxmlformats.org/drawingml/2006/main">
            <a:off x="10839450" y="3238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5A301E-36A8-4D0F-816C-DEC10DB37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Main purpose: submit required documents and help the school review and improve DLL compliance.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E17E47-69D7-4E20-BC02-92E1F9FF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4572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EF4FDF-A317-4B5F-B808-EAFBDC64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0E17F9-A023-490D-9566-311952E7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Own submissions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CBA47-029D-4209-AEBF-43FEE2D0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622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Can upload Daily Lesson Plans with teaching load, plus ISP or ISR when required.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6339FB-FDCD-441B-B2D4-D356B9C5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4572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517403-4802-4C02-9A5F-0E2EE885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DA277-D966-4E16-8490-DD0B966B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002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48A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8A4F"/>
                </a:solidFill>
                <a:latin typeface="Aptos"/>
                <a:ea typeface="Aptos"/>
                <a:cs typeface="Aptos"/>
              </a:rPr>
              <a:t>Compliance 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DECF23-BF7A-47AE-BA5B-362F1CEA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622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Uses Compliance to see missing, late, or unchecked DLLs in one focused list.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32ABC9-1309-4D72-8203-00C8169CE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4572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276F75-310B-4960-95DE-40C1C342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D26DEF-F9A6-41DA-A859-0115F75B7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6195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B70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2B705"/>
                </a:solidFill>
                <a:latin typeface="Aptos"/>
                <a:ea typeface="Aptos"/>
                <a:cs typeface="Aptos"/>
              </a:rPr>
              <a:t>Archive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9C29F-D07C-4D0B-89CC-479FB13F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814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Filters documents, opens files, adds remarks, and tracks checking status.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C3CBF5-84E5-4E45-A9DE-C2E88C85F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45720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EC2A5-23AD-427E-A0FA-73C872BB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29000"/>
            <a:ext cx="1143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3FE9B6-2D4C-4D0D-98AA-1EFFBCB6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1950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Teacher patterns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937A3E-F85C-4EBE-B702-C1BB3CCB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814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Uses K-means groups to identify teachers who need routine support first.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63430E-EBA7-4BA9-90F0-C9203674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E59E98-3F3F-4795-A262-B8E26708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726397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EC1F27-B770-446E-BD0E-4FF1B79C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14D14-819D-4C0B-9923-85B4D98B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School Head role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3351364dd4206"/>
          <a:stretch xmlns:a="http://schemas.openxmlformats.org/drawingml/2006/main"/>
        </p:blipFill>
        <p:spPr>
          <a:xfrm xmlns:a="http://schemas.openxmlformats.org/drawingml/2006/main">
            <a:off x="10839450" y="3238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5E398B-B211-4FD7-BB3F-E10A820F5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763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Main purpose: monitor school compliance, check files, and guide teachers with clear follow-up.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0B27B7-B8AF-4EC9-A702-F2AF7C80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B4D23-2569-494B-ABA8-8AB5FB690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90750"/>
            <a:ext cx="956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Compliance shows overdue DLLs, files for checking, and submitted of expected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B06A29-62C3-4050-9686-76C1C843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099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B8E179-8B33-49F5-B00A-3E7A1D40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33700"/>
            <a:ext cx="956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K-means grouping separates one-week misses from repeated submission patterns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C312CE-A902-4397-8BC3-D2C12D412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8A4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CF4031-B374-4CEA-915A-0EA62024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76650"/>
            <a:ext cx="956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Archive keeps checking work: remarks, approval status, document search, and exports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18466E-C1AF-498E-857B-E227F3F5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958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70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A9B473-DDDB-4C8F-B23C-9B506875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19600"/>
            <a:ext cx="9563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Reports support meetings, coaching, and submission follow-up by term and week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31E2E7-AB01-4923-8326-4A93D82C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8191500" cy="476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C8D7F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40A88-49A4-4476-897F-EFB432A13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5600700"/>
            <a:ext cx="771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Easy explanation: School Heads use Compliance to decide who to follow up, then use Archive to check the actual file.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AC4310-94C1-48C7-9F67-69348EBB8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777481-F50E-419F-A2B5-91786FAB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117383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25069B6-0CE7-4427-8F96-E654B9C0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E40A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CEDIMS SYSTEM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5B4B3-A97A-4757-9B93-4BDBB0B6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Role access at a glance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4e6b0131e4027"/>
          <a:stretch xmlns:a="http://schemas.openxmlformats.org/drawingml/2006/main"/>
        </p:blipFill>
        <p:spPr>
          <a:xfrm xmlns:a="http://schemas.openxmlformats.org/drawingml/2006/main">
            <a:off x="10839450" y="3238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DCC446-713C-4C78-AFE8-CD7FD976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47650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E40AF"/>
          </a:solidFill>
          <a:ln xmlns:a="http://schemas.openxmlformats.org/drawingml/2006/main" w="9525">
            <a:solidFill>
              <a:srgbClr val="1E40A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170586-BA74-4105-B153-34030D9D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171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1A0B8-37C3-414C-9C30-9FA9DD06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428750"/>
            <a:ext cx="2571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23691E-638D-40C1-AA61-1B62DDA9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600200"/>
            <a:ext cx="2266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Teacher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3BD2DE-ED06-4074-AE71-3E2F226E0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42875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85617-05EF-43AC-A6AC-2DEE0A31C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1600200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Master Teacher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DFA7D-11BE-4ECB-9215-98C3E205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2875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A9C025-C342-4D28-AF32-037731EB7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600200"/>
            <a:ext cx="2647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7407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School Head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B1F6F-08F0-49F5-BE18-0DF1E7FD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247650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A889F7-9C40-4748-890D-47D8C68F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6217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Tracker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1E9CC-A46F-48C7-8A6B-43AC9478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19300"/>
            <a:ext cx="2571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C5F11-28E9-4BDD-A525-B152DAF5F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621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Own status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5FA452-BB81-4239-9E43-DE85829F8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1930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9520B8-B27D-42F7-B87F-9D7EFE635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6217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Own plus review items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F66D50-A7C5-4B25-BF86-D4252243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1930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0D3BC2-1793-4499-BBF6-B07E37CD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6217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School review status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49DFC0-D9E4-4943-A345-18AB1D25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247650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549AE-A074-4D46-B7CD-9BD98F7F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527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22F959-3796-4A22-8500-C4EAD1B67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09850"/>
            <a:ext cx="2571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D3BCD94-7C6B-4A04-9ABF-1D5D6C6D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5272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DLL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C65426-05F6-4963-8C85-39476351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0985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C33EF5-A96D-4CA3-9074-F0EF8E81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5272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DLL, ISP, ISR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B7FE5C-1CAF-4E3A-9119-839B43F9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8384972-D681-4B5E-8E19-70EAB49E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75272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ISP, ISR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6024A5-145F-4C9F-B2D2-AAD44EF8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00400"/>
            <a:ext cx="247650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545039-6B13-407D-989B-4FC2885D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4327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Loads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62CCF3-E33B-4E23-A170-D73F3CC92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0400"/>
            <a:ext cx="2571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D5CF43-EE3E-4D29-B27D-52A6FA28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432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Own teaching load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D1A0340-5FC4-4E9B-B1DE-10F87358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0040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5C32BA-607E-4BA4-8B96-178ED67A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34327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Own teaching load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5D40A8-F821-4086-A56E-CF9E0014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0040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392A42-264D-4C3E-A4B9-DF71166D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4327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View through monitoring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26079B-49F1-447A-A632-40CDC2BE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247650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94A158-9CE5-4370-8478-C50CA1D6A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3382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Compliance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6DFEACC-F741-423D-A901-58365806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90950"/>
            <a:ext cx="2571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585F97-243C-4EA0-B525-E8A67F9A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93382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Personal tracker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F74CB3C-6CEB-41B5-B358-02AFC4CC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79095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4799DAB-44DD-46A9-B158-93612FA88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93382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Teacher follow-up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E15E8A-F41B-4613-8321-212C034E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9095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64628D3-5464-484B-8F51-64514F6E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3382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School follow-up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9A0DBE-82D0-425F-9E7C-48351AB4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247650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93A861-D687-49AE-B3E4-C56FDB4E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24375"/>
            <a:ext cx="2209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Archive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94B032-BB91-4E2E-8C34-8DB5A4F8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81500"/>
            <a:ext cx="2571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1CA970-4B0A-49B2-9822-4F2CF48B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24375"/>
            <a:ext cx="2305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Own files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DBAFF7-D459-47D8-A484-05B1058DF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8150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30ECA6-98B5-42C2-8347-CF3D193C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52437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School files for review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9050B5-E517-40E8-9F2B-FE27EA0D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81500"/>
            <a:ext cx="29527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4306D8C-2C2D-4D66-85F2-3A2785F1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524375"/>
            <a:ext cx="2686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School files and remarks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BC33AA-AECA-41A2-AD4F-292BBFE0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6384D3-2A4D-4C47-B94D-3A9CC4B5C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244438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5fc63b5b5449a"/>
          <a:stretch xmlns:a="http://schemas.openxmlformats.org/drawingml/2006/main"/>
        </p:blipFill>
        <p:spPr>
          <a:xfrm xmlns:a="http://schemas.openxmlformats.org/drawingml/2006/main">
            <a:off x="762000" y="66675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E3260-CE06-4390-B591-A175D5CC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How to explain CEDIMS in one minute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D7130D-9231-42C2-85C4-FAF778F0D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Teachers submit and track. Master Teachers review and support. School Heads monitor and follow up. The Archive keeps the evidence, and Compliance tells leaders where attention is needed.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00183-6CA0-4CDA-BBFA-21463B9D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95750"/>
            <a:ext cx="94297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E40AF"/>
          </a:solidFill>
          <a:ln xmlns:a="http://schemas.openxmlformats.org/drawingml/2006/main" w="9525">
            <a:solidFill>
              <a:srgbClr val="1E40A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6A87D-91C4-4CB2-8702-1049B4B4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8625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263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goal is simple: fewer missing DLLs, faster checking, and clearer documentation for every school week.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4D8FA5-55BB-4737-87D1-1842C3CC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3880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Suggested next demo: open Upload, show one archived file, then open Compliance for follow-up decisions.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DBC1A-B86E-43DA-A2F9-B7018790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3657D"/>
                </a:solidFill>
                <a:latin typeface="Aptos"/>
                <a:ea typeface="Aptos"/>
                <a:cs typeface="Aptos"/>
              </a:rPr>
              <a:t>Calapan East District Instructional Monitoring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41B77-93D0-4BF2-869C-57BAAEA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00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3657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738575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2026-09-29T02:17:55.8110000Z</dcterms:created>
  <dcterms:modified xsi:type="dcterms:W3CDTF">2026-09-29T02:17:55.8110000Z</dcterms:modified>
</coreProperties>
</file>